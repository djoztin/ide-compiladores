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24"/>
    <p:sldId id="261" r:id="rId7"/>
    <p:sldId id="274" r:id="rId25"/>
    <p:sldId id="262" r:id="rId8"/>
    <p:sldId id="275" r:id="rId26"/>
    <p:sldId id="263" r:id="rId9"/>
    <p:sldId id="276" r:id="rId27"/>
    <p:sldId id="264" r:id="rId10"/>
    <p:sldId id="277" r:id="rId28"/>
    <p:sldId id="265" r:id="rId11"/>
    <p:sldId id="278" r:id="rId29"/>
    <p:sldId id="266" r:id="rId12"/>
    <p:sldId id="279" r:id="rId30"/>
    <p:sldId id="267" r:id="rId13"/>
    <p:sldId id="280" r:id="rId31"/>
    <p:sldId id="268" r:id="rId14"/>
    <p:sldId id="281" r:id="rId32"/>
    <p:sldId id="269" r:id="rId15"/>
    <p:sldId id="282" r:id="rId33"/>
    <p:sldId id="270" r:id="rId16"/>
    <p:sldId id="283" r:id="rId34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A2A63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572000" cy="4572000"/>
          </a:xfrm>
          <a:prstGeom prst="ellipse">
            <a:avLst/>
          </a:prstGeom>
          <a:solidFill>
            <a:srgbClr val="3223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457200" y="219456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b="1" dirty="0">
                <a:solidFill>
                  <a:srgbClr val="2F2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COMPILADORES II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Semántico y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Símbolos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compilador TINY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41248" y="4709160"/>
            <a:ext cx="3108960" cy="0"/>
          </a:xfrm>
          <a:prstGeom prst="line">
            <a:avLst/>
          </a:prstGeom>
          <a:noFill/>
          <a:ln w="19050">
            <a:solidFill>
              <a:srgbClr val="5A4A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  </a:t>
            </a:r>
            <a:pPr indent="0" marL="0">
              <a:buNone/>
            </a:pPr>
            <a:r>
              <a:rPr lang="en-US" sz="135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Jostin Carabez · Santiago Pastrana · Diego Salas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  </a:t>
            </a:r>
            <a:pPr indent="0" marL="0">
              <a:buNone/>
            </a:pPr>
            <a:r>
              <a:rPr lang="en-US" sz="135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Blanca Guadalupe Estrada Rentería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8"/>
              </a:lnSpc>
              <a:buNone/>
            </a:pPr>
            <a:r>
              <a:rPr lang="en-US" sz="34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842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y estructura general del análisis semántico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9443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Recorridos preorden / postorden y atributos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86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9044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la tabla de símbolos (buildSymtab)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46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48646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Implementación: tabla hash de symtab.c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965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19842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tipos (typeCheck / checkNode)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926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9443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semánticas y errores que detecta TINY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886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9044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completo y comparación con nuestro proyecto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846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646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INTRODUCCIÓN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comprender?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943600" cy="3840480"/>
          </a:xfrm>
          <a:prstGeom prst="roundRect">
            <a:avLst>
              <a:gd name="adj" fmla="val 2381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TINY hace el análisis semántico después del sintáctico.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su tabla de símbolos (hash con encadenamiento).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verifica e infiere los tipos: Void, Integer, Boolean.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errores semánticos detecta TINY — y cuáles no.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qué se diferencia de la semántica de nuestro proyecto.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903720" y="1965960"/>
            <a:ext cx="4617720" cy="3840480"/>
          </a:xfrm>
          <a:prstGeom prst="roundRect">
            <a:avLst>
              <a:gd name="adj" fmla="val 2857"/>
            </a:avLst>
          </a:prstGeom>
          <a:solidFill>
            <a:srgbClr val="4A2E86"/>
          </a:solidFill>
          <a:ln/>
          <a:effectLst>
            <a:outerShdw sx="100000" sy="100000" kx="0" ky="0" algn="bl" rotWithShape="0" blurRad="203200" dist="63500" dir="5400000">
              <a:srgbClr val="4A2E86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22376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69748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 es un modelo didáctico. No lo copiamos: lo entendemos para adaptarlo y extenderlo con las reglas semánticas de nuestro propio lenguaje.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Introducción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ESTRUCTURA GENERAL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análisis parte del árbol sintáctico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04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</a:t>
            </a:r>
            <a:endParaRPr lang="en-US" sz="1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sintáctico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del parser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90672" y="2514600"/>
            <a:ext cx="429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7C5C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93008" y="2404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buildSymtab()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preorden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514600"/>
            <a:ext cx="429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45936" y="2148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4A2E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45936" y="2404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typeCheck()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postorden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796528" y="2514600"/>
            <a:ext cx="429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198864" y="2148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98864" y="24048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anotado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198864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+ tabla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9776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96112" y="4160520"/>
            <a:ext cx="10369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analyze.h — dos procesos principales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buildSymtab( TreeNode * syntaxTree ); 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construye la tabla de símbolos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typeCheck ( TreeNode * syntaxTree );  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verifica e infiere tipos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recorren el mismo árbol con la función genérica traverse(), pero en distinto orden.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Estructura general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RECORRIDOS Y ATRIBUTOS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Preorden construye, postorden verifica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PREORDEN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5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buildSymtab · insertNode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461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cada nodo ANTES que a sus hijos.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 a un IdK, AssignK o ReadK ya puede insertar el identificador.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HEREDADOS: la info fluye de padres a hijos.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4A2E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POSTORDEN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8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typeCheck · checkNode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2461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cada nodo DESPUÉS de sus hijos.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una suma no se calcula sin el tipo de sus operandos.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SINTETIZADOS: la info sube de hijos a padre.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Recorridos y atributos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CONSTRUCCIÓN DE LA TABLA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buildSymtab() e insertNode()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035040" cy="228600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148840"/>
            <a:ext cx="55229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buildSymtab(TreeNode * syntaxTree)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traverse(syntaxTree, insertNode, nullProc);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insertNode actúa solo en: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AssignK · ReadK · IdK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6035040" cy="1600200"/>
          </a:xfrm>
          <a:prstGeom prst="roundRect">
            <a:avLst>
              <a:gd name="adj" fmla="val 5714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6177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identificador llama a st_lookup. Si no existe, usa la variable global location como nueva localidad (location++); si ya existe, solo agrega el número de línea.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APARECE UN IDENTIFICADOR?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242316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2569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:= 5;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3538728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78040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4041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x;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4654296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51572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:= x + 1;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buildSymtab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IMPLEMENTACIÓN: SYMTAB.C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hash con encadenamiento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126480" cy="3063240"/>
          </a:xfrm>
          <a:prstGeom prst="roundRect">
            <a:avLst>
              <a:gd name="adj" fmla="val 3582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148840"/>
            <a:ext cx="56144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SIZE 211  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primo: mejor distribución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SHIFT 32  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(en el libro: 4)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hash(char * key)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temp = 0, i = 0;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(key[i] != '\0')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= ((temp &lt;&lt; SHIFT) + key[i]) % SIZE;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++i;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temp;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6596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69480" y="21945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A2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= 211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primo: reparte mejor los índices del arreglo hashTable[SIZE].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40880" y="3520440"/>
            <a:ext cx="4480560" cy="2514600"/>
          </a:xfrm>
          <a:prstGeom prst="roundRect">
            <a:avLst>
              <a:gd name="adj" fmla="val 3636"/>
            </a:avLst>
          </a:prstGeom>
          <a:solidFill>
            <a:srgbClr val="FBF2F6"/>
          </a:solidFill>
          <a:ln w="12700">
            <a:solidFill>
              <a:srgbClr val="E9C9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6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TÉCNICO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4023360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SHIFT = 32 el corrimiento es comportamiento indefinido en C. Al ejecutarlo (gcc x86-64) el valor se colapsa a 0 y el hash termina dependiendo solo del último carácter del nombre.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Tabla hash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ESTRUCTURAS DE DATOS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BucketList, LineList y colisiones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126480" cy="3154680"/>
          </a:xfrm>
          <a:prstGeom prst="roundRect">
            <a:avLst>
              <a:gd name="adj" fmla="val 3478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148840"/>
            <a:ext cx="561441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BucketListRec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* name;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nombre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LineList lines;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líneas donde aparece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memloc;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localidad de memoria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BucketListRec * next;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encadenamiento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* BucketList;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LineListRec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lineno;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LineListRec * next;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* LineList;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hashTable[SIZE] — encadenamiento separado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h("X")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83880" y="2468880"/>
            <a:ext cx="1051560" cy="566928"/>
          </a:xfrm>
          <a:prstGeom prst="roundRect">
            <a:avLst>
              <a:gd name="adj" fmla="val 11290"/>
            </a:avLst>
          </a:prstGeom>
          <a:solidFill>
            <a:srgbClr val="7C5C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83880" y="2468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3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NULL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h("Uno")=h("Dos")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3611880"/>
            <a:ext cx="1051560" cy="566928"/>
          </a:xfrm>
          <a:prstGeom prst="roundRect">
            <a:avLst>
              <a:gd name="adj" fmla="val 11290"/>
            </a:avLst>
          </a:prstGeom>
          <a:solidFill>
            <a:srgbClr val="4A2E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40880" y="3611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63016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49640" y="3611880"/>
            <a:ext cx="1051560" cy="566928"/>
          </a:xfrm>
          <a:prstGeom prst="roundRect">
            <a:avLst>
              <a:gd name="adj" fmla="val 11290"/>
            </a:avLst>
          </a:prstGeom>
          <a:solidFill>
            <a:srgbClr val="4A2E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36118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3639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3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NULL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4526280"/>
            <a:ext cx="4480560" cy="1508760"/>
          </a:xfrm>
          <a:prstGeom prst="roundRect">
            <a:avLst>
              <a:gd name="adj" fmla="val 6061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470916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nombres colisionan, se guardan en la MISMA lista ligada; st_insert y st_lookup la recorren comparando con strcmp hasta hallar el nombre exacto.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Estructuras y colisiones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OPERACIONES DE LA TABLA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st_insert, st_lookup, printSymTab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492240" cy="3200400"/>
          </a:xfrm>
          <a:prstGeom prst="roundRect">
            <a:avLst>
              <a:gd name="adj" fmla="val 3429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148840"/>
            <a:ext cx="5980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st_insert(char * name, int lineno, int loc)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h = hash(name);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BucketList l = hashTable[h];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(l &amp;&amp; strcmp(name,l-&gt;name)) l = l-&gt;next;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(l == NULL) {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primera vez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l-&gt;name = name;  l-&gt;memloc = loc;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l-&gt;next = hashTable[h];  hashTable[h] = l;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    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ya existía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solo agrega el número de línea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60920" y="1965960"/>
            <a:ext cx="4160520" cy="1051560"/>
          </a:xfrm>
          <a:prstGeom prst="roundRect">
            <a:avLst>
              <a:gd name="adj" fmla="val 7826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20939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st_lookup(name)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423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hash, recorre la lista y regresa memloc, o −1 si no está.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3200400"/>
            <a:ext cx="4160520" cy="1051560"/>
          </a:xfrm>
          <a:prstGeom prst="roundRect">
            <a:avLst>
              <a:gd name="adj" fmla="val 7826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0" y="3328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printSymTab()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las 211 posiciones e imprime nombre, localidad y líneas.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0920" y="4434840"/>
            <a:ext cx="4160520" cy="1600200"/>
          </a:xfrm>
          <a:prstGeom prst="roundRect">
            <a:avLst>
              <a:gd name="adj" fmla="val 5143"/>
            </a:avLst>
          </a:prstGeom>
          <a:solidFill>
            <a:srgbClr val="4A2E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8920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se registra una sola vez (su memloc no cambia), pero puede acumular varias líneas de referencia.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Operaciones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EJEMPLO CON NUESTRO CÓDIGO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Trazando el main() de prueba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148840"/>
            <a:ext cx="47000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st_insert("Uno",1,0);  st_insert("Dos",2,1);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st_insert("Uno",2,0);  st_insert("Dos",2,0);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st_insert("Dos",2,7);  st_insert("X",5,2);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st_insert("X",6,0);    st_insert("X",6,0);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663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st_lookup en el main():   "hola" → −1   ·   "Uno" → 0   ·   "Dos" →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212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"Dos" y "X" se insertan varias veces, su localidad NUNCA cambia; solo crece su lista de líneas.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148840"/>
          <a:ext cx="5349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8308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24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1, 2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24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2, 2, 2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24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5, 6, 6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172200" y="44348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símbolos resultante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Ejemplo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VERIFICACIÓN DE TIPOS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typeCheck() recorre en postorden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126480" cy="1737360"/>
          </a:xfrm>
          <a:prstGeom prst="roundRect">
            <a:avLst>
              <a:gd name="adj" fmla="val 6316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148840"/>
            <a:ext cx="5614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typeCheck(TreeNode * syntaxTree)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traverse(syntaxTree, nullProc, checkNode);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6126480" cy="2148840"/>
          </a:xfrm>
          <a:prstGeom prst="roundRect">
            <a:avLst>
              <a:gd name="adj" fmla="val 4255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0690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nullProc no hace nada en preorden; todo el trabajo ocurre al SALIR de cada nodo. Para verificar el tipo de un nodo primero deben conocerse los tipos de sus hijos — es un atributo sintetizado.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ExpType — tipos que maneja TINY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2423160"/>
            <a:ext cx="4480560" cy="1051560"/>
          </a:xfrm>
          <a:prstGeom prst="roundRect">
            <a:avLst>
              <a:gd name="adj" fmla="val 7826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948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9260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sentencias sin valor (if, repeat, read, write, assign)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3611880"/>
            <a:ext cx="4480560" cy="1051560"/>
          </a:xfrm>
          <a:prstGeom prst="roundRect">
            <a:avLst>
              <a:gd name="adj" fmla="val 7826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6948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4114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constantes, identificadores y operaciones aritméticas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4800600"/>
            <a:ext cx="4480560" cy="1051560"/>
          </a:xfrm>
          <a:prstGeom prst="roundRect">
            <a:avLst>
              <a:gd name="adj" fmla="val 7826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4937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5303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comparaciones ( &lt; , = 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typeCheck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INFERENCIA DE TIPOS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tipo tiene cada expresión?</a:t>
            </a:r>
            <a:endParaRPr lang="en-US" sz="3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18288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/ operador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resultante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 numérica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4A2E8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Integer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(variable)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4A2E8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Integer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OpK  ( + − * /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 aritmética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4A2E8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Integer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OpK  ( &lt;  =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4A2E8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Boolean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2103120"/>
            <a:ext cx="2971800" cy="3310128"/>
          </a:xfrm>
          <a:prstGeom prst="roundRect">
            <a:avLst>
              <a:gd name="adj" fmla="val 3692"/>
            </a:avLst>
          </a:prstGeom>
          <a:solidFill>
            <a:srgbClr val="4A2E8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GENERAL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269748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de los hijos deben resolverse antes de calcular el tipo del padre. Es el principio del atributo sintetizado de la Fase 2.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Inferencia de tipos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REGLAS SEMÁNTICAS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que checkNode() sí detecta</a:t>
            </a:r>
            <a:endParaRPr lang="en-US" sz="3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49377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de typeError()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se dispara?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64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 applied to non-integer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operando de +,−,*,/ no es Integer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64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test is not Boolean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condición del if no es Boolean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64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assignment of non-integer value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AssignK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valor asignado no es Integer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64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 of non-integer value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expresión a imprimir no es Integer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64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repeat test is not Boolean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RepeatK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condición del repeat no es Boolean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FBF2F6"/>
          </a:solidFill>
          <a:ln w="12700">
            <a:solidFill>
              <a:srgbClr val="E9C9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5559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pPr indent="0" marL="0">
              <a:buNone/>
            </a:pPr>
            <a:r>
              <a:rPr lang="en-US" sz="13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"variable no declarada" NO es un error de TINY — la versión analizada no valida declaración previa.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Errores semánticos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EJEMPLO PRÁCTICO COMPLETO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código TINY a resultado semántico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148840"/>
            <a:ext cx="470001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calcula el factorial de x 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x;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0 &lt; x then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fact := 1;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fact := fact * x;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:= x - 1;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until x = 0;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 fact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965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símbolos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331720"/>
          <a:ext cx="5349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2606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63500" marB="63500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memloc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63500" marB="63500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63500" marB="63500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24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38100" marR="38100" marT="63500" marB="63500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63500" marB="63500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2, 3, 6, 7, 7, 8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63500" marB="63500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24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fact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38100" marR="38100" marT="63500" marB="63500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63500" marB="63500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C24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4, 6, 6, 9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63500" marB="63500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172200" y="37947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verificados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42245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&lt; x → Boolean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fact*x , x−1 → Integer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 → Boolean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516636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EEF6F1"/>
          </a:solidFill>
          <a:ln w="12700">
            <a:solidFill>
              <a:srgbClr val="CDE6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5303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B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semánticos: condiciones Boolean y asignaciones/escrituras Integer.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Ejemplo completo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CASO CON ERROR Y COMPARACIÓN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ejemplo incorrecto · TINY vs. proyecto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4709160" cy="1691640"/>
          </a:xfrm>
          <a:prstGeom prst="roundRect">
            <a:avLst>
              <a:gd name="adj" fmla="val 6486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148840"/>
            <a:ext cx="4197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x;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fact then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write x;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4709160" cy="2148840"/>
          </a:xfrm>
          <a:prstGeom prst="roundRect">
            <a:avLst>
              <a:gd name="adj" fmla="val 4255"/>
            </a:avLst>
          </a:prstGeom>
          <a:solidFill>
            <a:srgbClr val="FBF2F6"/>
          </a:solidFill>
          <a:ln w="12700">
            <a:solidFill>
              <a:srgbClr val="E9C9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964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error at line 2: if test is not Boolean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00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'fact' es Integer por defecto; al usarse como condición del if, checkNode espera Boolean y dispara el error.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9385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 vs.  lenguaje de nuestro proyecto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304288"/>
          <a:ext cx="58521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96596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Nuestro proyecto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2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Implícita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Explícita (int x,y,z;)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2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Integer, Boolean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real, char, 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2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2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/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/ write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 / cout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2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declarada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valida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se valida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2E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↔ 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669280" y="5623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el proyecto mezcla int y real, por lo que requiere coerción que TINY no necesita.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Error y comparación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 · CONCLUSIONES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6"/>
              </a:lnSpc>
              <a:buNone/>
            </a:pPr>
            <a:r>
              <a:rPr lang="en-US" sz="3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deja este análisis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600200" y="2167128"/>
            <a:ext cx="0" cy="640080"/>
          </a:xfrm>
          <a:prstGeom prst="line">
            <a:avLst/>
          </a:prstGeom>
          <a:noFill/>
          <a:ln w="19050">
            <a:solidFill>
              <a:srgbClr val="E2D8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10312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semántico da significado al árbol sintáctico: valida que el programa tenga sentido, no solo estructura.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8152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600200" y="3191256"/>
            <a:ext cx="0" cy="640080"/>
          </a:xfrm>
          <a:prstGeom prst="line">
            <a:avLst/>
          </a:prstGeom>
          <a:noFill/>
          <a:ln w="19050">
            <a:solidFill>
              <a:srgbClr val="E2D8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312724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símbolos (hash + encadenamiento) es la memoria del compilador: qué identificadores existen y dónde se usan.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0565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1600200" y="4215384"/>
            <a:ext cx="0" cy="640080"/>
          </a:xfrm>
          <a:prstGeom prst="line">
            <a:avLst/>
          </a:prstGeom>
          <a:noFill/>
          <a:ln w="19050">
            <a:solidFill>
              <a:srgbClr val="E2D8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415137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preorden construye la tabla; el postorden infiere y verifica tipos con atributos sintetizados.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129784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98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1600200" y="5239512"/>
            <a:ext cx="0" cy="640080"/>
          </a:xfrm>
          <a:prstGeom prst="line">
            <a:avLst/>
          </a:prstGeom>
          <a:noFill/>
          <a:ln w="19050">
            <a:solidFill>
              <a:srgbClr val="E2D8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28800" y="5175504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limitaciones de TINY (no valida no-declaradas, dos tipos, tabla global) son justo lo que mejoraremos en nuestro lenguaje.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 · Conclusiones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7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926080"/>
            <a:ext cx="5486400" cy="5486400"/>
          </a:xfrm>
          <a:prstGeom prst="ellipse">
            <a:avLst/>
          </a:prstGeom>
          <a:solidFill>
            <a:srgbClr val="32235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3A2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100" kern="0" dirty="0">
                <a:solidFill>
                  <a:srgbClr val="A98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Semántico y Tabla de Símbolos · Compilador TINY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7A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8"/>
              </a:lnSpc>
              <a:buNone/>
            </a:pPr>
            <a:r>
              <a:rPr lang="es-MX" sz="29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.h/.c, y sin arreglo fijo de hijos</a:t>
            </a:r>
            <a:endParaRPr lang="es-MX" sz="2900" dirty="0"/>
          </a:p>
        </p:txBody>
      </p:sp>
      <p:sp>
        <p:nvSpPr>
          <p:cNvPr id="6" name="Text 6"/>
          <p:cNvSpPr txBox="1"/>
          <p:nvPr/>
        </p:nvSpPr>
        <p:spPr>
          <a:xfrm>
            <a:off x="640080" y="19659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 ·  analyze.h</a:t>
            </a:r>
            <a:endParaRPr lang="es-MX" sz="1100" dirty="0"/>
          </a:p>
        </p:txBody>
      </p:sp>
      <p:sp>
        <p:nvSpPr>
          <p:cNvPr id="8" name="Shape"/>
          <p:cNvSpPr/>
          <p:nvPr/>
        </p:nvSpPr>
        <p:spPr>
          <a:xfrm>
            <a:off x="640080" y="2313432"/>
            <a:ext cx="5257800" cy="224028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9" name="Text 9"/>
          <p:cNvSpPr txBox="1"/>
          <p:nvPr/>
        </p:nvSpPr>
        <p:spPr>
          <a:xfrm>
            <a:off x="768096" y="2441448"/>
            <a:ext cx="500176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interfaz, separada de la implementacion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buildSymtab( TreeNode * syntaxTree );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typeCheck ( TreeNode * syntaxTree );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TreeNode: child[MAXCHILDREN=3] fijo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sibling (arreglo fijo en todo nodo)</a:t>
            </a:r>
            <a:endParaRPr lang="es-MX" sz="1250" dirty="0"/>
          </a:p>
        </p:txBody>
      </p:sp>
      <p:sp>
        <p:nvSpPr>
          <p:cNvPr id="10" name="Text 10"/>
          <p:cNvSpPr txBox="1"/>
          <p:nvPr/>
        </p:nvSpPr>
        <p:spPr>
          <a:xfrm>
            <a:off x="6263640" y="19659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PROYECTO  ·  Python</a:t>
            </a:r>
            <a:endParaRPr lang="es-MX" sz="1100" dirty="0"/>
          </a:p>
        </p:txBody>
      </p:sp>
      <p:sp>
        <p:nvSpPr>
          <p:cNvPr id="12" name="Shape"/>
          <p:cNvSpPr/>
          <p:nvPr/>
        </p:nvSpPr>
        <p:spPr>
          <a:xfrm>
            <a:off x="6263640" y="2313432"/>
            <a:ext cx="5257800" cy="224028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13" name="Text 13"/>
          <p:cNvSpPr txBox="1"/>
          <p:nvPr/>
        </p:nvSpPr>
        <p:spPr>
          <a:xfrm>
            <a:off x="6391656" y="2441448"/>
            <a:ext cx="500176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 solo modulo: no se separa .h de .c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construir_tabla(arbol: NodoSint) -&gt; dict: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verificar_tipos(arbol: NodoSint,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tabla: dict) -&gt; list: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s-MX" sz="1250" dirty="0"/>
          </a:p>
        </p:txBody>
      </p:sp>
      <p:sp>
        <p:nvSpPr>
          <p:cNvPr id="15" name="Shape"/>
          <p:cNvSpPr/>
          <p:nvPr/>
        </p:nvSpPr>
        <p:spPr>
          <a:xfrm>
            <a:off x="640080" y="4754880"/>
            <a:ext cx="10881360" cy="1481328"/>
          </a:xfrm>
          <a:prstGeom prst="roundRect">
            <a:avLst>
              <a:gd name="adj" fmla="val 18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859536" y="4873752"/>
            <a:ext cx="104424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s-MX" sz="125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NodoSint.hijos es una lista dinamica: no hay MAXCHILDREN ni 'sibling' — cada lista de sentencias ya es un nodo con tantos hijos como sentencias tenga. Python no separa interfaz de implementacion (no hay .h). El atributo sintetizado t-&gt;type de TINY se guarda igual, como un atributo que le agregamos al nodo en tiempo de ejecucion (nodo.tipo_res).</a:t>
            </a:r>
            <a:endParaRPr lang="es-MX" sz="1250" dirty="0"/>
          </a:p>
        </p:txBody>
      </p:sp>
      <p:sp>
        <p:nvSpPr>
          <p:cNvPr id="17" name="Text 1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Nuestro proyecto</a:t>
            </a:r>
            <a:endParaRPr lang="es-MX" sz="900" dirty="0"/>
          </a:p>
        </p:txBody>
      </p:sp>
      <p:sp>
        <p:nvSpPr>
          <p:cNvPr id="18" name="Text 18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MX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50"/>
              </a:lnSpc>
              <a:buNone/>
            </a:pPr>
            <a:r>
              <a:rPr lang="es-MX" sz="25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buildSymtab() e insertNode() → construir_tabla()</a:t>
            </a:r>
            <a:endParaRPr lang="es-MX" sz="2500" dirty="0"/>
          </a:p>
        </p:txBody>
      </p:sp>
      <p:sp>
        <p:nvSpPr>
          <p:cNvPr id="7" name="Shape"/>
          <p:cNvSpPr/>
          <p:nvPr/>
        </p:nvSpPr>
        <p:spPr>
          <a:xfrm>
            <a:off x="640080" y="1965960"/>
            <a:ext cx="6400800" cy="342900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768096" y="2093976"/>
            <a:ext cx="6144768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construir_tabla(nodo, tabla, errores):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nodo is None: return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nodo.tipo == "declaracion":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= nodo.valor     # int/real/char/string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lid in nodo.hijos:      # lista_ids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idn in lid.hijos: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nom = idn.valor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nom in tabla: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errores.append(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error_doble_decl(idn, tabla))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else: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tabla[nom] = {"tipo": t,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"linea": idn.linea, "usos": []}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hijo in nodo.hijos: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construir_tabla(hijo, tabla, errores)</a:t>
            </a:r>
            <a:endParaRPr lang="es-MX" sz="1120" dirty="0"/>
          </a:p>
        </p:txBody>
      </p:sp>
      <p:sp>
        <p:nvSpPr>
          <p:cNvPr id="9" name="Text 9"/>
          <p:cNvSpPr txBox="1"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CAMBIA</a:t>
            </a:r>
            <a:endParaRPr lang="es-MX" sz="1100" dirty="0"/>
          </a:p>
        </p:txBody>
      </p:sp>
      <p:sp>
        <p:nvSpPr>
          <p:cNvPr id="11" name="Shape"/>
          <p:cNvSpPr/>
          <p:nvPr/>
        </p:nvSpPr>
        <p:spPr>
          <a:xfrm>
            <a:off x="7223760" y="2313432"/>
            <a:ext cx="3657600" cy="1691640"/>
          </a:xfrm>
          <a:prstGeom prst="roundRect">
            <a:avLst>
              <a:gd name="adj" fmla="val 15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2" name="Text 12"/>
          <p:cNvSpPr txBox="1"/>
          <p:nvPr/>
        </p:nvSpPr>
        <p:spPr>
          <a:xfrm>
            <a:off x="7433158" y="2446934"/>
            <a:ext cx="32388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600" b="1" kern="0" dirty="0">
                <a:solidFill>
                  <a:srgbClr val="4A2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se inserta</a:t>
            </a:r>
            <a:endParaRPr lang="es-MX" sz="1600" dirty="0"/>
          </a:p>
        </p:txBody>
      </p:sp>
      <p:sp>
        <p:nvSpPr>
          <p:cNvPr id="13" name="Text 13"/>
          <p:cNvSpPr txBox="1"/>
          <p:nvPr/>
        </p:nvSpPr>
        <p:spPr>
          <a:xfrm>
            <a:off x="7433158" y="2785262"/>
            <a:ext cx="32388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 inserta al USAR la variable</a:t>
            </a:r>
            <a:endParaRPr lang="es-MX" sz="1150" dirty="0"/>
          </a:p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(AssignK / ReadK / IdK).</a:t>
            </a:r>
            <a:endParaRPr lang="es-MX" sz="1150" dirty="0"/>
          </a:p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Nosotros insertamos al DECLARARLA</a:t>
            </a:r>
            <a:endParaRPr lang="es-MX" sz="1150" dirty="0"/>
          </a:p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(nodo declaracion), antes de usarla.</a:t>
            </a:r>
            <a:endParaRPr lang="es-MX" sz="1150" dirty="0"/>
          </a:p>
        </p:txBody>
      </p:sp>
      <p:sp>
        <p:nvSpPr>
          <p:cNvPr id="15" name="Shape"/>
          <p:cNvSpPr/>
          <p:nvPr/>
        </p:nvSpPr>
        <p:spPr>
          <a:xfrm>
            <a:off x="7223760" y="4142232"/>
            <a:ext cx="3657600" cy="1874520"/>
          </a:xfrm>
          <a:prstGeom prst="roundRect">
            <a:avLst>
              <a:gd name="adj" fmla="val 14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7433158" y="4275734"/>
            <a:ext cx="32388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600" b="1" kern="0" dirty="0">
                <a:solidFill>
                  <a:srgbClr val="4A2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 validacion</a:t>
            </a:r>
            <a:endParaRPr lang="es-MX" sz="1600" dirty="0"/>
          </a:p>
        </p:txBody>
      </p:sp>
      <p:sp>
        <p:nvSpPr>
          <p:cNvPr id="17" name="Text 17"/>
          <p:cNvSpPr txBox="1"/>
          <p:nvPr/>
        </p:nvSpPr>
        <p:spPr>
          <a:xfrm>
            <a:off x="7433158" y="4614062"/>
            <a:ext cx="32388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 no detecta doble declaracion</a:t>
            </a:r>
            <a:endParaRPr lang="es-MX" sz="1150" dirty="0"/>
          </a:p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tiene ese concepto).</a:t>
            </a:r>
            <a:endParaRPr lang="es-MX" sz="1150" dirty="0"/>
          </a:p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construir_tabla SI la detecta:</a:t>
            </a:r>
            <a:endParaRPr lang="es-MX" sz="1150" dirty="0"/>
          </a:p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 in tabla' antes de insertar.</a:t>
            </a:r>
            <a:endParaRPr lang="es-MX" sz="1150" dirty="0"/>
          </a:p>
        </p:txBody>
      </p:sp>
      <p:sp>
        <p:nvSpPr>
          <p:cNvPr id="19" name="Shape"/>
          <p:cNvSpPr/>
          <p:nvPr/>
        </p:nvSpPr>
        <p:spPr>
          <a:xfrm>
            <a:off x="640080" y="5559552"/>
            <a:ext cx="6400800" cy="777240"/>
          </a:xfrm>
          <a:prstGeom prst="roundRect">
            <a:avLst>
              <a:gd name="adj" fmla="val 28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859536" y="5678424"/>
            <a:ext cx="59618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s-MX" sz="110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traverse(t, insertNode, nullProc) recorre el arbol completo con dos punteros a funcion (pre/post). construir_tabla hace un solo recorrido recursivo porque solo reacciona a un tipo de nodo: 'declaracion'.</a:t>
            </a:r>
            <a:endParaRPr lang="es-MX" sz="1100" dirty="0"/>
          </a:p>
        </p:txBody>
      </p:sp>
      <p:sp>
        <p:nvSpPr>
          <p:cNvPr id="21" name="Text 2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buildSymtab (Python)</a:t>
            </a:r>
            <a:endParaRPr lang="es-MX" sz="900" dirty="0"/>
          </a:p>
        </p:txBody>
      </p:sp>
      <p:sp>
        <p:nvSpPr>
          <p:cNvPr id="22" name="Text 22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MX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54"/>
              </a:lnSpc>
              <a:buNone/>
            </a:pPr>
            <a:r>
              <a:rPr lang="es-MX" sz="27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¿Necesitamos hash() en Python? No.</a:t>
            </a:r>
            <a:endParaRPr lang="es-MX" sz="2700" dirty="0"/>
          </a:p>
        </p:txBody>
      </p:sp>
      <p:sp>
        <p:nvSpPr>
          <p:cNvPr id="6" name="Text 6"/>
          <p:cNvSpPr txBox="1"/>
          <p:nvPr/>
        </p:nvSpPr>
        <p:spPr>
          <a:xfrm>
            <a:off x="640080" y="19659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 ·  symtab.c (91 lineas en C)</a:t>
            </a:r>
            <a:endParaRPr lang="es-MX" sz="1100" dirty="0"/>
          </a:p>
        </p:txBody>
      </p:sp>
      <p:sp>
        <p:nvSpPr>
          <p:cNvPr id="8" name="Shape"/>
          <p:cNvSpPr/>
          <p:nvPr/>
        </p:nvSpPr>
        <p:spPr>
          <a:xfrm>
            <a:off x="640080" y="2313432"/>
            <a:ext cx="5257800" cy="237744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9" name="Text 9"/>
          <p:cNvSpPr txBox="1"/>
          <p:nvPr/>
        </p:nvSpPr>
        <p:spPr>
          <a:xfrm>
            <a:off x="768096" y="2441448"/>
            <a:ext cx="50017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SIZE 211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hash(char * key) {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temp = 0, i = 0;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(key[i] != '\0') {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= ((temp&lt;&lt;SHIFT)+key[i]) % SIZE;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++i;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temp;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9D8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BucketList hashTable[SIZE];</a:t>
            </a:r>
            <a:endParaRPr lang="es-MX" sz="1120" dirty="0"/>
          </a:p>
        </p:txBody>
      </p:sp>
      <p:sp>
        <p:nvSpPr>
          <p:cNvPr id="10" name="Text 10"/>
          <p:cNvSpPr txBox="1"/>
          <p:nvPr/>
        </p:nvSpPr>
        <p:spPr>
          <a:xfrm>
            <a:off x="6263640" y="19659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PROYECTO  ·  Python (0 lineas)</a:t>
            </a:r>
            <a:endParaRPr lang="es-MX" sz="1100" dirty="0"/>
          </a:p>
        </p:txBody>
      </p:sp>
      <p:sp>
        <p:nvSpPr>
          <p:cNvPr id="12" name="Shape"/>
          <p:cNvSpPr/>
          <p:nvPr/>
        </p:nvSpPr>
        <p:spPr>
          <a:xfrm>
            <a:off x="6263640" y="2313432"/>
            <a:ext cx="5257800" cy="237744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13" name="Text 13"/>
          <p:cNvSpPr txBox="1"/>
          <p:nvPr/>
        </p:nvSpPr>
        <p:spPr>
          <a:xfrm>
            <a:off x="6391656" y="2441448"/>
            <a:ext cx="50017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 = {}     # dict = tabla hash ya resuelta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tabla["x"] = {"tipo": "int", "linea": 2,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"usos": []}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"x" in tabla          # equivalente a st_lookup</a:t>
            </a:r>
            <a:endParaRPr lang="es-MX" sz="112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2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tabla["x"]["tipo"]   # tipo declarado de x</a:t>
            </a:r>
            <a:endParaRPr lang="es-MX" sz="1120" dirty="0"/>
          </a:p>
        </p:txBody>
      </p:sp>
      <p:sp>
        <p:nvSpPr>
          <p:cNvPr id="15" name="Shape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19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859536" y="5010912"/>
            <a:ext cx="10442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s-MX" sz="130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implementa dict como tabla hash abierta con resize automatico: no necesitamos definir SIZE, escribir hash(), ni resolver colisiones a mano — el propio __hash__ y __eq__ de los strings de Python ya lo hacen. Las ~90 lineas de symtab.c se convierten en una sola linea: tabla = {}.</a:t>
            </a:r>
            <a:endParaRPr lang="es-MX" sz="1300" dirty="0"/>
          </a:p>
        </p:txBody>
      </p:sp>
      <p:sp>
        <p:nvSpPr>
          <p:cNvPr id="17" name="Text 1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Sin hash a mano</a:t>
            </a:r>
            <a:endParaRPr lang="es-MX" sz="900" dirty="0"/>
          </a:p>
        </p:txBody>
      </p:sp>
      <p:sp>
        <p:nvSpPr>
          <p:cNvPr id="18" name="Text 18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MX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50"/>
              </a:lnSpc>
              <a:buNone/>
            </a:pPr>
            <a:r>
              <a:rPr lang="es-MX" sz="25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BucketList y LineList → una entrada de dict</a:t>
            </a:r>
            <a:endParaRPr lang="es-MX" sz="2500" dirty="0"/>
          </a:p>
        </p:txBody>
      </p:sp>
      <p:sp>
        <p:nvSpPr>
          <p:cNvPr id="6" name="Text 6"/>
          <p:cNvSpPr txBox="1"/>
          <p:nvPr/>
        </p:nvSpPr>
        <p:spPr>
          <a:xfrm>
            <a:off x="640080" y="19659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 ·  symtab.c</a:t>
            </a:r>
            <a:endParaRPr lang="es-MX" sz="1100" dirty="0"/>
          </a:p>
        </p:txBody>
      </p:sp>
      <p:sp>
        <p:nvSpPr>
          <p:cNvPr id="8" name="Shape"/>
          <p:cNvSpPr/>
          <p:nvPr/>
        </p:nvSpPr>
        <p:spPr>
          <a:xfrm>
            <a:off x="640080" y="2313432"/>
            <a:ext cx="5257800" cy="251460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9" name="Text 9"/>
          <p:cNvSpPr txBox="1"/>
          <p:nvPr/>
        </p:nvSpPr>
        <p:spPr>
          <a:xfrm>
            <a:off x="768096" y="2441448"/>
            <a:ext cx="5001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BucketListRec {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* name;      // nombre (llave)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LineList lines;   // lista de lineas de uso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memloc;       // localidad de memoria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BucketListRec * next;  // colision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* BucketList;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LineListRec {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lineno; struct LineListRec * next;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* LineList;</a:t>
            </a:r>
            <a:endParaRPr lang="es-MX" sz="1100" dirty="0"/>
          </a:p>
        </p:txBody>
      </p:sp>
      <p:sp>
        <p:nvSpPr>
          <p:cNvPr id="10" name="Text 10"/>
          <p:cNvSpPr txBox="1"/>
          <p:nvPr/>
        </p:nvSpPr>
        <p:spPr>
          <a:xfrm>
            <a:off x="6263640" y="19659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PROYECTO  ·  Python</a:t>
            </a:r>
            <a:endParaRPr lang="es-MX" sz="1100" dirty="0"/>
          </a:p>
        </p:txBody>
      </p:sp>
      <p:sp>
        <p:nvSpPr>
          <p:cNvPr id="12" name="Shape"/>
          <p:cNvSpPr/>
          <p:nvPr/>
        </p:nvSpPr>
        <p:spPr>
          <a:xfrm>
            <a:off x="6263640" y="2313432"/>
            <a:ext cx="5257800" cy="251460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13" name="Text 13"/>
          <p:cNvSpPr txBox="1"/>
          <p:nvPr/>
        </p:nvSpPr>
        <p:spPr>
          <a:xfrm>
            <a:off x="6391656" y="2441448"/>
            <a:ext cx="500176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tabla["x"] = {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"tipo":  "int",   # ya no hace falta 'name':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# la llave del dict lo es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"linea": 4,        # linea de declaracion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"usos":  [7, 8, 9] # equivalente a LineList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existe 'next' de colision: cada llave</a:t>
            </a:r>
            <a:endParaRPr lang="es-MX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0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 un dict ya es unica</a:t>
            </a:r>
            <a:endParaRPr lang="es-MX" sz="1100" dirty="0"/>
          </a:p>
        </p:txBody>
      </p:sp>
      <p:sp>
        <p:nvSpPr>
          <p:cNvPr id="15" name="Shape"/>
          <p:cNvSpPr/>
          <p:nvPr/>
        </p:nvSpPr>
        <p:spPr>
          <a:xfrm>
            <a:off x="640080" y="4992624"/>
            <a:ext cx="10881360" cy="1234440"/>
          </a:xfrm>
          <a:prstGeom prst="roundRect">
            <a:avLst>
              <a:gd name="adj" fmla="val 22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859536" y="5111496"/>
            <a:ext cx="10442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s-MX" sz="120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BucketList.name desaparece: la llave del dict ya es el nombre. BucketList.next (encadenamiento por colision) desaparece: cada llave es unica. LineList se convierte en una lista de Python que crece con .append(). memloc no se calcula aqui: en TINY sirve para generar codigo TM; en nuestro proyecto la localidad se resuelve despues, en la fase de codigo intermedio.</a:t>
            </a:r>
            <a:endParaRPr lang="es-MX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Diccionario en vez de listas</a:t>
            </a:r>
            <a:endParaRPr lang="es-MX" sz="900" dirty="0"/>
          </a:p>
        </p:txBody>
      </p:sp>
      <p:sp>
        <p:nvSpPr>
          <p:cNvPr id="18" name="Text 18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s-MX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46"/>
              </a:lnSpc>
              <a:buNone/>
            </a:pPr>
            <a:r>
              <a:rPr lang="es-MX" sz="23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st_insert, st_lookup, printSymTab → nuestras funciones</a:t>
            </a:r>
            <a:endParaRPr lang="es-MX" sz="2300" dirty="0"/>
          </a:p>
        </p:txBody>
      </p:sp>
      <p:sp>
        <p:nvSpPr>
          <p:cNvPr id="7" name="Shape"/>
          <p:cNvSpPr/>
          <p:nvPr/>
        </p:nvSpPr>
        <p:spPr>
          <a:xfrm>
            <a:off x="640080" y="1965960"/>
            <a:ext cx="6583680" cy="352044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768096" y="2093976"/>
            <a:ext cx="6327648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declarar_variable(tabla, nom, tipo, linea):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nom in tabla: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        # doble declaracion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tabla[nom] = {"tipo": tipo, "linea": linea,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"usos": []}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existe_variable(tabla, nom):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nom in tabla          # O(1)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tipo_de(tabla, nom):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tabla[nom]["tipo"] if nom in tabla else None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registrar_uso(tabla, nom, linea):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tabla[nom]["usos"].append(linea)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imprimir_tabla(tabla):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nom, info in tabla.items():   # dict.items()</a:t>
            </a:r>
            <a:endParaRPr lang="es-MX" sz="93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93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print(nom, info["tipo"], info["linea"], info["usos"])</a:t>
            </a:r>
            <a:endParaRPr lang="es-MX" sz="930" dirty="0"/>
          </a:p>
        </p:txBody>
      </p:sp>
      <p:sp>
        <p:nvSpPr>
          <p:cNvPr id="9" name="Text 9"/>
          <p:cNvSpPr txBox="1"/>
          <p:nvPr/>
        </p:nvSpPr>
        <p:spPr>
          <a:xfrm>
            <a:off x="740664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 →  NUESTRO PROYECTO</a:t>
            </a:r>
            <a:endParaRPr lang="es-MX" sz="1100" dirty="0"/>
          </a:p>
        </p:txBody>
      </p:sp>
      <p:sp>
        <p:nvSpPr>
          <p:cNvPr id="11" name="Shape"/>
          <p:cNvSpPr/>
          <p:nvPr/>
        </p:nvSpPr>
        <p:spPr>
          <a:xfrm>
            <a:off x="7406640" y="2331720"/>
            <a:ext cx="3474720" cy="1005840"/>
          </a:xfrm>
          <a:prstGeom prst="roundRect">
            <a:avLst>
              <a:gd name="adj" fmla="val 16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2" name="Text 12"/>
          <p:cNvSpPr txBox="1"/>
          <p:nvPr/>
        </p:nvSpPr>
        <p:spPr>
          <a:xfrm>
            <a:off x="7589520" y="2423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450" b="1" kern="0" dirty="0">
                <a:solidFill>
                  <a:srgbClr val="4A2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st_insert</a:t>
            </a:r>
            <a:endParaRPr lang="es-MX" sz="1450" dirty="0"/>
          </a:p>
        </p:txBody>
      </p:sp>
      <p:sp>
        <p:nvSpPr>
          <p:cNvPr id="13" name="Text 13"/>
          <p:cNvSpPr txBox="1"/>
          <p:nvPr/>
        </p:nvSpPr>
        <p:spPr>
          <a:xfrm>
            <a:off x="7589520" y="2807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declarar_variable / registrar_uso</a:t>
            </a:r>
            <a:endParaRPr lang="es-MX" sz="1150" dirty="0"/>
          </a:p>
        </p:txBody>
      </p:sp>
      <p:sp>
        <p:nvSpPr>
          <p:cNvPr id="15" name="Shape"/>
          <p:cNvSpPr/>
          <p:nvPr/>
        </p:nvSpPr>
        <p:spPr>
          <a:xfrm>
            <a:off x="7406640" y="3502152"/>
            <a:ext cx="3474720" cy="1005840"/>
          </a:xfrm>
          <a:prstGeom prst="roundRect">
            <a:avLst>
              <a:gd name="adj" fmla="val 16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7589520" y="35935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450" b="1" kern="0" dirty="0">
                <a:solidFill>
                  <a:srgbClr val="4A2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st_lookup</a:t>
            </a:r>
            <a:endParaRPr lang="es-MX" sz="1450" dirty="0"/>
          </a:p>
        </p:txBody>
      </p:sp>
      <p:sp>
        <p:nvSpPr>
          <p:cNvPr id="17" name="Text 17"/>
          <p:cNvSpPr txBox="1"/>
          <p:nvPr/>
        </p:nvSpPr>
        <p:spPr>
          <a:xfrm>
            <a:off x="758952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existe_variable / tipo_de</a:t>
            </a:r>
            <a:endParaRPr lang="es-MX" sz="1150" dirty="0"/>
          </a:p>
        </p:txBody>
      </p:sp>
      <p:sp>
        <p:nvSpPr>
          <p:cNvPr id="19" name="Shape"/>
          <p:cNvSpPr/>
          <p:nvPr/>
        </p:nvSpPr>
        <p:spPr>
          <a:xfrm>
            <a:off x="7406640" y="4672584"/>
            <a:ext cx="3474720" cy="1005840"/>
          </a:xfrm>
          <a:prstGeom prst="roundRect">
            <a:avLst>
              <a:gd name="adj" fmla="val 16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7589520" y="47640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450" b="1" kern="0" dirty="0">
                <a:solidFill>
                  <a:srgbClr val="4A2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printSymTab</a:t>
            </a:r>
            <a:endParaRPr lang="es-MX" sz="1450" dirty="0"/>
          </a:p>
        </p:txBody>
      </p:sp>
      <p:sp>
        <p:nvSpPr>
          <p:cNvPr id="21" name="Text 21"/>
          <p:cNvSpPr txBox="1"/>
          <p:nvPr/>
        </p:nvSpPr>
        <p:spPr>
          <a:xfrm>
            <a:off x="7589520" y="5148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50" kern="0" dirty="0">
                <a:solidFill>
                  <a:srgbClr val="6B6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imprimir_tabla</a:t>
            </a:r>
            <a:endParaRPr lang="es-MX" sz="1150" dirty="0"/>
          </a:p>
        </p:txBody>
      </p:sp>
      <p:sp>
        <p:nvSpPr>
          <p:cNvPr id="23" name="Shape"/>
          <p:cNvSpPr/>
          <p:nvPr/>
        </p:nvSpPr>
        <p:spPr>
          <a:xfrm>
            <a:off x="640080" y="5577840"/>
            <a:ext cx="6583680" cy="713232"/>
          </a:xfrm>
          <a:prstGeom prst="roundRect">
            <a:avLst>
              <a:gd name="adj" fmla="val 26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859536" y="5696712"/>
            <a:ext cx="6144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s-MX" sz="103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clave se mantiene igual que en TINY: una variable se declara una sola vez, pero acumula varias lineas de uso en 'usos'. La diferencia es la complejidad: st_lookup recorre una lista comparando con strcmp; existe_variable resuelve en O(1) porque el dict ya indexa por hash.</a:t>
            </a:r>
            <a:endParaRPr lang="es-MX" sz="1030" dirty="0"/>
          </a:p>
        </p:txBody>
      </p:sp>
      <p:sp>
        <p:nvSpPr>
          <p:cNvPr id="25" name="Text 2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Nuestras funciones</a:t>
            </a:r>
            <a:endParaRPr lang="es-MX" sz="900" dirty="0"/>
          </a:p>
        </p:txBody>
      </p:sp>
      <p:sp>
        <p:nvSpPr>
          <p:cNvPr id="26" name="Text 26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s-MX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52"/>
              </a:lnSpc>
              <a:buNone/>
            </a:pPr>
            <a:r>
              <a:rPr lang="es-MX" sz="26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Trazando un fragmento de nuestro lenguaje</a:t>
            </a:r>
            <a:endParaRPr lang="es-MX" sz="2600" dirty="0"/>
          </a:p>
        </p:txBody>
      </p:sp>
      <p:sp>
        <p:nvSpPr>
          <p:cNvPr id="7" name="Shape"/>
          <p:cNvSpPr/>
          <p:nvPr/>
        </p:nvSpPr>
        <p:spPr>
          <a:xfrm>
            <a:off x="640080" y="1965960"/>
            <a:ext cx="5212080" cy="233172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768096" y="2093976"/>
            <a:ext cx="495604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3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x, y;      // linea 1</a:t>
            </a:r>
            <a:endParaRPr lang="es-MX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3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z;        // linea 2</a:t>
            </a:r>
            <a:endParaRPr lang="es-MX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3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5;         // linea 3</a:t>
            </a:r>
            <a:endParaRPr lang="es-MX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3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 + 2;     // linea 4</a:t>
            </a:r>
            <a:endParaRPr lang="es-MX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3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y / 2.0;   // linea 5</a:t>
            </a:r>
            <a:endParaRPr lang="es-MX" sz="1300" dirty="0"/>
          </a:p>
        </p:txBody>
      </p:sp>
      <p:sp>
        <p:nvSpPr>
          <p:cNvPr id="10" name="Shape"/>
          <p:cNvSpPr/>
          <p:nvPr/>
        </p:nvSpPr>
        <p:spPr>
          <a:xfrm>
            <a:off x="640080" y="4480560"/>
            <a:ext cx="5212080" cy="169164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11" name="Text 11"/>
          <p:cNvSpPr txBox="1"/>
          <p:nvPr/>
        </p:nvSpPr>
        <p:spPr>
          <a:xfrm>
            <a:off x="768096" y="4608576"/>
            <a:ext cx="49560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0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declarar_variable("x",int,1); declarar_variable("y",int,1)</a:t>
            </a:r>
            <a:endParaRPr lang="es-MX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0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declarar_variable("z",real,2)</a:t>
            </a:r>
            <a:endParaRPr lang="es-MX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0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registrar_uso("x",3); registrar_uso("x",4)</a:t>
            </a:r>
            <a:endParaRPr lang="es-MX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0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registrar_uso("y",4); registrar_uso("y",5)</a:t>
            </a:r>
            <a:endParaRPr lang="es-MX" sz="1050" dirty="0"/>
          </a:p>
        </p:txBody>
      </p:sp>
      <p:sp>
        <p:nvSpPr>
          <p:cNvPr id="12" name="Text 12"/>
          <p:cNvSpPr txBox="1"/>
          <p:nvPr/>
        </p:nvSpPr>
        <p:spPr>
          <a:xfrm>
            <a:off x="6172200" y="19659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simbolos resultante</a:t>
            </a:r>
            <a:endParaRPr lang="es-MX" sz="1100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6172200" y="2286000"/>
          <a:ext cx="5349240" cy="1792224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97280"/>
                <a:gridCol w="2057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Usos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3, 4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4, 5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5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s-MX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"/>
          <p:cNvSpPr/>
          <p:nvPr/>
        </p:nvSpPr>
        <p:spPr>
          <a:xfrm>
            <a:off x="6172200" y="4352544"/>
            <a:ext cx="5349240" cy="1417320"/>
          </a:xfrm>
          <a:prstGeom prst="roundRect">
            <a:avLst>
              <a:gd name="adj" fmla="val 19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6391656" y="4471416"/>
            <a:ext cx="491032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s-MX" sz="115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ejemplo de TINY (fase 3, slide anterior), aqui 'x' y 'y' se registran ANTES de usarse (por su declaracion 'int x, y;'), no la primera vez que aparecen en una asignacion. 'z' nunca vuelve a usarse tras declararse, por eso su lista de usos queda vacia.</a:t>
            </a:r>
            <a:endParaRPr lang="es-MX" sz="1150" dirty="0"/>
          </a:p>
        </p:txBody>
      </p:sp>
      <p:sp>
        <p:nvSpPr>
          <p:cNvPr id="17" name="Text 1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Ejemplo (nuestro proyecto)</a:t>
            </a:r>
            <a:endParaRPr lang="es-MX" sz="900" dirty="0"/>
          </a:p>
        </p:txBody>
      </p:sp>
      <p:sp>
        <p:nvSpPr>
          <p:cNvPr id="18" name="Text 18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s-MX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50"/>
              </a:lnSpc>
              <a:buNone/>
            </a:pPr>
            <a:r>
              <a:rPr lang="es-MX" sz="25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typeCheck() → verificar_tipos() con 4 tipos</a:t>
            </a:r>
            <a:endParaRPr lang="es-MX" sz="2500" dirty="0"/>
          </a:p>
        </p:txBody>
      </p:sp>
      <p:sp>
        <p:nvSpPr>
          <p:cNvPr id="7" name="Shape"/>
          <p:cNvSpPr/>
          <p:nvPr/>
        </p:nvSpPr>
        <p:spPr>
          <a:xfrm>
            <a:off x="640080" y="1965960"/>
            <a:ext cx="6172200" cy="333756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768096" y="2093976"/>
            <a:ext cx="591616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TipoDato: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ENTERO   = "int"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REAL     = "real"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CARACTER = "char"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CADENA   = "string"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BOOLEANO = "bool"   # no se declara: solo resulta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    = "void"   # sentencias sin valor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verificar_tipos(nodo, tabla, errores):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hijo in nodo.hijos: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8E82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verificar_tipos(hijo, tabla, errores)  # primero</a:t>
            </a:r>
            <a:endParaRPr lang="es-MX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1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nodo.tipo_res = inferir_tipo(nodo, tabla, errores)</a:t>
            </a:r>
            <a:endParaRPr lang="es-MX" sz="1150" dirty="0"/>
          </a:p>
        </p:txBody>
      </p:sp>
      <p:sp>
        <p:nvSpPr>
          <p:cNvPr id="9" name="Text 9"/>
          <p:cNvSpPr txBox="1"/>
          <p:nvPr/>
        </p:nvSpPr>
        <p:spPr>
          <a:xfrm>
            <a:off x="7086600" y="1965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TipoDato — vs. ExpType de TINY</a:t>
            </a:r>
            <a:endParaRPr lang="es-MX" sz="1100" dirty="0"/>
          </a:p>
        </p:txBody>
      </p:sp>
      <p:sp>
        <p:nvSpPr>
          <p:cNvPr id="11" name="Shape"/>
          <p:cNvSpPr/>
          <p:nvPr/>
        </p:nvSpPr>
        <p:spPr>
          <a:xfrm>
            <a:off x="7086600" y="2313432"/>
            <a:ext cx="3794760" cy="749808"/>
          </a:xfrm>
          <a:prstGeom prst="roundRect">
            <a:avLst>
              <a:gd name="adj" fmla="val 22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2" name="Text 12"/>
          <p:cNvSpPr txBox="1"/>
          <p:nvPr/>
        </p:nvSpPr>
        <p:spPr>
          <a:xfrm>
            <a:off x="7269480" y="23682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450" b="1" kern="0" dirty="0">
                <a:solidFill>
                  <a:srgbClr val="4A2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/ real</a:t>
            </a:r>
            <a:endParaRPr lang="es-MX" sz="1450" dirty="0"/>
          </a:p>
        </p:txBody>
      </p:sp>
      <p:sp>
        <p:nvSpPr>
          <p:cNvPr id="13" name="Text 13"/>
          <p:cNvSpPr txBox="1"/>
          <p:nvPr/>
        </p:nvSpPr>
        <p:spPr>
          <a:xfrm>
            <a:off x="7269480" y="269748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050" kern="0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solo tiene Integer</a:t>
            </a:r>
            <a:endParaRPr lang="es-MX" sz="1050" dirty="0"/>
          </a:p>
        </p:txBody>
      </p:sp>
      <p:sp>
        <p:nvSpPr>
          <p:cNvPr id="15" name="Shape"/>
          <p:cNvSpPr/>
          <p:nvPr/>
        </p:nvSpPr>
        <p:spPr>
          <a:xfrm>
            <a:off x="7086600" y="3191256"/>
            <a:ext cx="3794760" cy="749808"/>
          </a:xfrm>
          <a:prstGeom prst="roundRect">
            <a:avLst>
              <a:gd name="adj" fmla="val 22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7269480" y="32461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450" b="1" kern="0" dirty="0">
                <a:solidFill>
                  <a:srgbClr val="4A2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s-MX" sz="1450" dirty="0"/>
          </a:p>
        </p:txBody>
      </p:sp>
      <p:sp>
        <p:nvSpPr>
          <p:cNvPr id="17" name="Text 17"/>
          <p:cNvSpPr txBox="1"/>
          <p:nvPr/>
        </p:nvSpPr>
        <p:spPr>
          <a:xfrm>
            <a:off x="7269480" y="357530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050" kern="0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en TINY</a:t>
            </a:r>
            <a:endParaRPr lang="es-MX" sz="1050" dirty="0"/>
          </a:p>
        </p:txBody>
      </p:sp>
      <p:sp>
        <p:nvSpPr>
          <p:cNvPr id="19" name="Shape"/>
          <p:cNvSpPr/>
          <p:nvPr/>
        </p:nvSpPr>
        <p:spPr>
          <a:xfrm>
            <a:off x="7086600" y="4069080"/>
            <a:ext cx="3794760" cy="749808"/>
          </a:xfrm>
          <a:prstGeom prst="roundRect">
            <a:avLst>
              <a:gd name="adj" fmla="val 22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7269480" y="41239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450" b="1" kern="0" dirty="0">
                <a:solidFill>
                  <a:srgbClr val="4A2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s-MX" sz="1450" dirty="0"/>
          </a:p>
        </p:txBody>
      </p:sp>
      <p:sp>
        <p:nvSpPr>
          <p:cNvPr id="21" name="Text 21"/>
          <p:cNvSpPr txBox="1"/>
          <p:nvPr/>
        </p:nvSpPr>
        <p:spPr>
          <a:xfrm>
            <a:off x="7269480" y="44531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050" kern="0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en TINY</a:t>
            </a:r>
            <a:endParaRPr lang="es-MX" sz="1050" dirty="0"/>
          </a:p>
        </p:txBody>
      </p:sp>
      <p:sp>
        <p:nvSpPr>
          <p:cNvPr id="23" name="Shape"/>
          <p:cNvSpPr/>
          <p:nvPr/>
        </p:nvSpPr>
        <p:spPr>
          <a:xfrm>
            <a:off x="7086600" y="4946904"/>
            <a:ext cx="3794760" cy="749808"/>
          </a:xfrm>
          <a:prstGeom prst="roundRect">
            <a:avLst>
              <a:gd name="adj" fmla="val 22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7269480" y="50017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450" b="1" kern="0" dirty="0">
                <a:solidFill>
                  <a:srgbClr val="4A2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/ void</a:t>
            </a:r>
            <a:endParaRPr lang="es-MX" sz="1450" dirty="0"/>
          </a:p>
        </p:txBody>
      </p:sp>
      <p:sp>
        <p:nvSpPr>
          <p:cNvPr id="25" name="Text 25"/>
          <p:cNvSpPr txBox="1"/>
          <p:nvPr/>
        </p:nvSpPr>
        <p:spPr>
          <a:xfrm>
            <a:off x="7269480" y="533095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050" kern="0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iguales a Boolean / Void</a:t>
            </a:r>
            <a:endParaRPr lang="es-MX" sz="1050" dirty="0"/>
          </a:p>
        </p:txBody>
      </p:sp>
      <p:sp>
        <p:nvSpPr>
          <p:cNvPr id="27" name="Shape"/>
          <p:cNvSpPr/>
          <p:nvPr/>
        </p:nvSpPr>
        <p:spPr>
          <a:xfrm>
            <a:off x="640080" y="5449824"/>
            <a:ext cx="6172200" cy="960120"/>
          </a:xfrm>
          <a:prstGeom prst="roundRect">
            <a:avLst>
              <a:gd name="adj" fmla="val 19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59536" y="5568696"/>
            <a:ext cx="57332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s-MX" sz="115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necesita 3 categorias porque solo declara un tipo (Integer); nuestro lenguaje declara 4 tipos de dato explicitos, por lo que TipoDato necesita 6 categorias (4 declarables + Booleano y Void, que solo resultan de operaciones, nunca se declaran).</a:t>
            </a:r>
            <a:endParaRPr lang="es-MX" sz="1150" dirty="0"/>
          </a:p>
        </p:txBody>
      </p:sp>
      <p:sp>
        <p:nvSpPr>
          <p:cNvPr id="29" name="Text 2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TipoDato extendido</a:t>
            </a:r>
            <a:endParaRPr lang="es-MX" sz="900" dirty="0"/>
          </a:p>
        </p:txBody>
      </p:sp>
      <p:sp>
        <p:nvSpPr>
          <p:cNvPr id="30" name="Text 30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s-MX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50"/>
              </a:lnSpc>
              <a:buNone/>
            </a:pPr>
            <a:r>
              <a:rPr lang="es-MX" sz="25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 tipo tiene cada expresion, con 4 tipos?</a:t>
            </a:r>
            <a:endParaRPr lang="es-MX" sz="25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40080" y="1965960"/>
          <a:ext cx="7589520" cy="3621024"/>
        </p:xfrm>
        <a:graphic>
          <a:graphicData uri="http://schemas.openxmlformats.org/drawingml/2006/table">
            <a:tbl>
              <a:tblPr/>
              <a:tblGrid>
                <a:gridCol w="2331720"/>
                <a:gridCol w="2834640"/>
                <a:gridCol w="2423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/ caso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resultante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/ real_lit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literal numerico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/ REAL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declarado en la tabla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que tenga en tabla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expresion, termino (ENTERO, ENTERO)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aritmetica entre enteros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expresion, termino (con algun REAL)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coercion automatica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expresion, termino (CARACTER / CADENA)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operando invalido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  (&amp;&amp;, ||)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 hijos BOOLEANO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BOOLEANO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expr_rel  (&lt;,&gt;,&lt;=,&gt;=,==)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comparacion numerica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BOOLEANO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"/>
          <p:cNvSpPr/>
          <p:nvPr/>
        </p:nvSpPr>
        <p:spPr>
          <a:xfrm>
            <a:off x="8549640" y="1965960"/>
            <a:ext cx="2971800" cy="3712464"/>
          </a:xfrm>
          <a:prstGeom prst="roundRect">
            <a:avLst>
              <a:gd name="adj" fmla="val 12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9" name="Text 9"/>
          <p:cNvSpPr txBox="1"/>
          <p:nvPr/>
        </p:nvSpPr>
        <p:spPr>
          <a:xfrm>
            <a:off x="877824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5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vs. TINY</a:t>
            </a:r>
            <a:endParaRPr lang="es-MX" sz="1150" dirty="0"/>
          </a:p>
        </p:txBody>
      </p:sp>
      <p:sp>
        <p:nvSpPr>
          <p:cNvPr id="10" name="Text 10"/>
          <p:cNvSpPr txBox="1"/>
          <p:nvPr/>
        </p:nvSpPr>
        <p:spPr>
          <a:xfrm>
            <a:off x="8778240" y="2532888"/>
            <a:ext cx="25146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s-MX" sz="115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jamas coerciona porque solo tiene Integer. Nuestro proyecto SI necesita coercion int→real (ampliacion automatica) y debe rechazar toda operacion aritmetica entre char/string, algo que TINY no contempla porque esos tipos no existen ahi.</a:t>
            </a:r>
            <a:endParaRPr lang="es-MX" sz="1150" dirty="0"/>
          </a:p>
        </p:txBody>
      </p:sp>
      <p:sp>
        <p:nvSpPr>
          <p:cNvPr id="11" name="Text 1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Inferencia (nuestro proyecto)</a:t>
            </a:r>
            <a:endParaRPr lang="es-MX" sz="900" dirty="0"/>
          </a:p>
        </p:txBody>
      </p:sp>
      <p:sp>
        <p:nvSpPr>
          <p:cNvPr id="12" name="Text 12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s-MX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54"/>
              </a:lnSpc>
              <a:buNone/>
            </a:pPr>
            <a:r>
              <a:rPr lang="es-MX" sz="27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que SI vamos a validar</a:t>
            </a:r>
            <a:endParaRPr lang="es-MX" sz="27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40080" y="1874520"/>
          <a:ext cx="10881360" cy="3200400"/>
        </p:xfrm>
        <a:graphic>
          <a:graphicData uri="http://schemas.openxmlformats.org/drawingml/2006/table">
            <a:tbl>
              <a:tblPr/>
              <a:tblGrid>
                <a:gridCol w="3291840"/>
                <a:gridCol w="2148840"/>
                <a:gridCol w="5440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 semantica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/ sentencia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¿Cuando se dispara?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no declarada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usa un id que no esta en la tabla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Doble declaracion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declaracion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id ya existe en la tabla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Asignacion de tipos incompatibles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asignacion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char/string asignado a int/real (o viceversa)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 no booleana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while / until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condicion no viene de &amp;&amp; / || / relacional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aritmetico sobre char/string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expresion, termino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operando de +,-,*,/ es char o string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Comparacion entre tipos no compatibles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expr_rel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compara, p. ej., int con string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Incremento/decremento invalido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incremento, decremento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2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++ / -- sobre char o string</a:t>
                      </a:r>
                      <a:endParaRPr lang="es-MX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"/>
          <p:cNvSpPr/>
          <p:nvPr/>
        </p:nvSpPr>
        <p:spPr>
          <a:xfrm>
            <a:off x="640080" y="5239512"/>
            <a:ext cx="10881360" cy="868680"/>
          </a:xfrm>
          <a:prstGeom prst="roundRect">
            <a:avLst>
              <a:gd name="adj" fmla="val 26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9" name="Text 9"/>
          <p:cNvSpPr txBox="1"/>
          <p:nvPr/>
        </p:nvSpPr>
        <p:spPr>
          <a:xfrm>
            <a:off x="859536" y="5358384"/>
            <a:ext cx="104424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s-MX" sz="115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error (igual esquema que typeError, adaptado): [Error Semantico] Linea X: descripcion.  TINY solo detecta 5 errores porque solo tiene Integer/Boolean; nosotros detectamos 7 porque declaramos 4 tipos y validamos declaracion previa.</a:t>
            </a:r>
            <a:endParaRPr lang="es-MX" sz="1150" dirty="0"/>
          </a:p>
        </p:txBody>
      </p:sp>
      <p:sp>
        <p:nvSpPr>
          <p:cNvPr id="10" name="Text 10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Reglas (nuestro proyecto)</a:t>
            </a:r>
            <a:endParaRPr lang="es-MX" sz="900" dirty="0"/>
          </a:p>
        </p:txBody>
      </p:sp>
      <p:sp>
        <p:nvSpPr>
          <p:cNvPr id="11" name="Text 11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s-MX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52"/>
              </a:lnSpc>
              <a:buNone/>
            </a:pPr>
            <a:r>
              <a:rPr lang="es-MX" sz="26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proceso, con nuestro lenguaje</a:t>
            </a:r>
            <a:endParaRPr lang="es-MX" sz="2600" dirty="0"/>
          </a:p>
        </p:txBody>
      </p:sp>
      <p:sp>
        <p:nvSpPr>
          <p:cNvPr id="7" name="Shape"/>
          <p:cNvSpPr/>
          <p:nvPr/>
        </p:nvSpPr>
        <p:spPr>
          <a:xfrm>
            <a:off x="640080" y="1965960"/>
            <a:ext cx="5212080" cy="260604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768096" y="2093976"/>
            <a:ext cx="4956048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</a:t>
            </a:r>
            <a:endParaRPr lang="es-MX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x, y;</a:t>
            </a:r>
            <a:endParaRPr lang="es-MX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real prom;</a:t>
            </a:r>
            <a:endParaRPr lang="es-MX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= 10;</a:t>
            </a:r>
            <a:endParaRPr lang="es-MX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 = 20;</a:t>
            </a:r>
            <a:endParaRPr lang="es-MX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 = (x + y) / 2.0;</a:t>
            </a:r>
            <a:endParaRPr lang="es-MX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(prom &gt; 10) then</a:t>
            </a:r>
            <a:endParaRPr lang="es-MX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prom;</a:t>
            </a:r>
            <a:endParaRPr lang="es-MX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end;</a:t>
            </a:r>
            <a:endParaRPr lang="es-MX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0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MX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6172200" y="19659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00" b="1" spc="2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simbolos</a:t>
            </a:r>
            <a:endParaRPr lang="es-MX" sz="1100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172200" y="2286000"/>
          <a:ext cx="5349240" cy="164592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109728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Usos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4, 6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5, 6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10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7, 8</a:t>
                      </a:r>
                      <a:endParaRPr lang="es-MX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"/>
          <p:cNvSpPr/>
          <p:nvPr/>
        </p:nvSpPr>
        <p:spPr>
          <a:xfrm>
            <a:off x="6172200" y="4096512"/>
            <a:ext cx="5349240" cy="1188720"/>
          </a:xfrm>
          <a:prstGeom prst="roundRect">
            <a:avLst>
              <a:gd name="adj" fmla="val 16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6373368" y="4169664"/>
            <a:ext cx="494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150" b="1" spc="1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verificados</a:t>
            </a:r>
            <a:endParaRPr lang="es-MX" sz="1150" dirty="0"/>
          </a:p>
        </p:txBody>
      </p:sp>
      <p:sp>
        <p:nvSpPr>
          <p:cNvPr id="14" name="Text 14"/>
          <p:cNvSpPr txBox="1"/>
          <p:nvPr/>
        </p:nvSpPr>
        <p:spPr>
          <a:xfrm>
            <a:off x="6373368" y="4480560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MX" sz="1100" kern="0" dirty="0">
                <a:solidFill>
                  <a:srgbClr val="2C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y → ENTERO   ·   (x+y)/2.0 → REAL (coercion)</a:t>
            </a:r>
            <a:endParaRPr lang="es-MX" sz="1100" dirty="0"/>
          </a:p>
          <a:p>
            <a:pPr indent="0" marL="0">
              <a:buNone/>
            </a:pPr>
            <a:r>
              <a:rPr lang="es-MX" sz="1100" kern="0" dirty="0">
                <a:solidFill>
                  <a:srgbClr val="2C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 &gt; 10 → BOOLEANO   ·   cout prom → valido (cualquier tipo)</a:t>
            </a:r>
            <a:endParaRPr lang="es-MX" sz="1100" dirty="0"/>
          </a:p>
        </p:txBody>
      </p:sp>
      <p:sp>
        <p:nvSpPr>
          <p:cNvPr id="16" name="Shape"/>
          <p:cNvSpPr/>
          <p:nvPr/>
        </p:nvSpPr>
        <p:spPr>
          <a:xfrm>
            <a:off x="6172200" y="5422392"/>
            <a:ext cx="5349240" cy="502920"/>
          </a:xfrm>
          <a:prstGeom prst="roundRect">
            <a:avLst>
              <a:gd name="adj" fmla="val 34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6391656" y="5541264"/>
            <a:ext cx="4910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s-MX" sz="115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 errores semanticos: coercion int→real aplicada correctamente en 'prom'.</a:t>
            </a:r>
            <a:endParaRPr lang="es-MX" sz="1150" dirty="0"/>
          </a:p>
        </p:txBody>
      </p:sp>
      <p:sp>
        <p:nvSpPr>
          <p:cNvPr id="19" name="Shape"/>
          <p:cNvSpPr/>
          <p:nvPr/>
        </p:nvSpPr>
        <p:spPr>
          <a:xfrm>
            <a:off x="640080" y="4754880"/>
            <a:ext cx="5212080" cy="1371600"/>
          </a:xfrm>
          <a:prstGeom prst="roundRect">
            <a:avLst>
              <a:gd name="adj" fmla="val 19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859536" y="4873752"/>
            <a:ext cx="47731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s-MX" sz="115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esquema que el ejemplo de TINY (fase 6): codigo → arbol (NodoSint) → tabla de simbolos (construir_tabla) → tipos anotados (verificar_tipos) → resultado. La diferencia es que aqui la tabla ya existe ANTES de la primera asignacion, porque 'int x,y;' la declara.</a:t>
            </a:r>
            <a:endParaRPr lang="es-MX" sz="1150" dirty="0"/>
          </a:p>
        </p:txBody>
      </p:sp>
      <p:sp>
        <p:nvSpPr>
          <p:cNvPr id="21" name="Text 2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Pipeline (nuestro proyecto)</a:t>
            </a:r>
            <a:endParaRPr lang="es-MX" sz="900" dirty="0"/>
          </a:p>
        </p:txBody>
      </p:sp>
      <p:sp>
        <p:nvSpPr>
          <p:cNvPr id="22" name="Text 22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s-MX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869680" y="1828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23000" b="1" kern="0" dirty="0">
                <a:solidFill>
                  <a:srgbClr val="ECE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s-MX" sz="2300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00" b="1" spc="300" kern="0" dirty="0">
                <a:solidFill>
                  <a:srgbClr val="7C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NUESTRO PROYECTO</a:t>
            </a:r>
            <a:endParaRPr lang="es-MX" sz="1200" dirty="0"/>
          </a:p>
        </p:txBody>
      </p:sp>
      <p:sp>
        <p:nvSpPr>
          <p:cNvPr id="4" name="Shape"/>
          <p:cNvSpPr/>
          <p:nvPr/>
        </p:nvSpPr>
        <p:spPr>
          <a:xfrm>
            <a:off x="640080" y="896112"/>
            <a:ext cx="118872" cy="118872"/>
          </a:xfrm>
          <a:prstGeom prst="ellipse">
            <a:avLst/>
          </a:prstGeom>
          <a:solidFill>
            <a:srgbClr val="7C5CD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621792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52"/>
              </a:lnSpc>
              <a:buNone/>
            </a:pPr>
            <a:r>
              <a:rPr lang="es-MX" sz="2600" b="1" spc="-50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caso con error, en nuestro lenguaje</a:t>
            </a:r>
            <a:endParaRPr lang="es-MX" sz="2600" dirty="0"/>
          </a:p>
        </p:txBody>
      </p:sp>
      <p:sp>
        <p:nvSpPr>
          <p:cNvPr id="7" name="Shape"/>
          <p:cNvSpPr/>
          <p:nvPr/>
        </p:nvSpPr>
        <p:spPr>
          <a:xfrm>
            <a:off x="640080" y="1965960"/>
            <a:ext cx="4709160" cy="169164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768096" y="2093976"/>
            <a:ext cx="4453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3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x;</a:t>
            </a:r>
            <a:endParaRPr lang="es-MX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3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c;</a:t>
            </a:r>
            <a:endParaRPr lang="es-MX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350" kern="0" dirty="0">
                <a:solidFill>
                  <a:srgbClr val="E9E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5;</a:t>
            </a:r>
            <a:endParaRPr lang="es-MX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350" kern="0" dirty="0">
                <a:solidFill>
                  <a:srgbClr val="9D8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x + 1;</a:t>
            </a:r>
            <a:endParaRPr lang="es-MX" sz="1350" dirty="0"/>
          </a:p>
        </p:txBody>
      </p:sp>
      <p:sp>
        <p:nvSpPr>
          <p:cNvPr id="10" name="Shape"/>
          <p:cNvSpPr/>
          <p:nvPr/>
        </p:nvSpPr>
        <p:spPr>
          <a:xfrm>
            <a:off x="640080" y="3840480"/>
            <a:ext cx="4709160" cy="2148840"/>
          </a:xfrm>
          <a:prstGeom prst="roundRect">
            <a:avLst>
              <a:gd name="adj" fmla="val 4800"/>
            </a:avLst>
          </a:prstGeom>
          <a:solidFill>
            <a:srgbClr val="241B3A"/>
          </a:solidFill>
          <a:ln/>
          <a:effectLst>
            <a:outerShdw sx="100000" sy="100000" kx="0" ky="0" algn="bl" rotWithShape="0" blurRad="177800" dist="63500" dir="5400000">
              <a:srgbClr val="4A2E86">
                <a:alpha val="22000"/>
              </a:srgbClr>
            </a:outerShdw>
          </a:effectLst>
        </p:spPr>
      </p:sp>
      <p:sp>
        <p:nvSpPr>
          <p:cNvPr id="11" name="Text 11"/>
          <p:cNvSpPr txBox="1"/>
          <p:nvPr/>
        </p:nvSpPr>
        <p:spPr>
          <a:xfrm>
            <a:off x="768096" y="3968496"/>
            <a:ext cx="445312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9D8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 Semantico] Linea 4:</a:t>
            </a:r>
            <a:endParaRPr lang="es-MX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s-MX" sz="1250" kern="0" dirty="0">
                <a:solidFill>
                  <a:srgbClr val="9D8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operador '+' no admite operandos de tipo char</a:t>
            </a:r>
            <a:endParaRPr lang="es-MX" sz="1250" dirty="0"/>
          </a:p>
        </p:txBody>
      </p:sp>
      <p:sp>
        <p:nvSpPr>
          <p:cNvPr id="12" name="Text 12"/>
          <p:cNvSpPr txBox="1"/>
          <p:nvPr/>
        </p:nvSpPr>
        <p:spPr>
          <a:xfrm>
            <a:off x="822960" y="452628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s-MX" sz="1200" kern="0" dirty="0">
                <a:solidFill>
                  <a:srgbClr val="6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'c' es char y 'x + 1' se infiere como ENTERO; no existe coercion entre char y numerico (a diferencia de int→real), asi que la asignacion se rechaza.</a:t>
            </a:r>
            <a:endParaRPr lang="es-MX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5669280" y="19385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1250" b="1" kern="0" dirty="0">
                <a:solidFill>
                  <a:srgbClr val="2C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  vs.  lenguaje de nuestro proyecto</a:t>
            </a:r>
            <a:endParaRPr lang="es-MX" sz="1250" dirty="0"/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669280" y="2304288"/>
          <a:ext cx="5852160" cy="2304288"/>
        </p:xfrm>
        <a:graphic>
          <a:graphicData uri="http://schemas.openxmlformats.org/drawingml/2006/table">
            <a:tbl>
              <a:tblPr/>
              <a:tblGrid>
                <a:gridCol w="1417320"/>
                <a:gridCol w="2103120"/>
                <a:gridCol w="2331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200" b="1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Nuestro proyecto</a:t>
                      </a:r>
                      <a:endParaRPr lang="es-MX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E8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Integer, Boolean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real, char, string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visto aqui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test is not Boolean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'+' invalido sobre char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usado como condicion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mezcla de char con ENTERO en '+'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Coercion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 (1 solo tipo numerico)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MX" sz="1080" kern="0" dirty="0">
                          <a:solidFill>
                            <a:srgbClr val="2C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↔ real; char/string sin coercion</a:t>
                      </a:r>
                      <a:endParaRPr lang="es-MX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B"/>
                    </a:solidFill>
                  </a:tcPr>
                </a:tc>
              </a:tr>
            </a:tbl>
          </a:graphicData>
        </a:graphic>
      </p:graphicFrame>
      <p:sp>
        <p:nvSpPr>
          <p:cNvPr id="16" name="Shape"/>
          <p:cNvSpPr/>
          <p:nvPr/>
        </p:nvSpPr>
        <p:spPr>
          <a:xfrm>
            <a:off x="5669280" y="4773168"/>
            <a:ext cx="5852160" cy="548640"/>
          </a:xfrm>
          <a:prstGeom prst="roundRect">
            <a:avLst>
              <a:gd name="adj" fmla="val 3000"/>
            </a:avLst>
          </a:prstGeom>
          <a:solidFill>
            <a:srgbClr val="F1ECFB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5888736" y="4892040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s-MX" sz="1100" kern="0" dirty="0">
                <a:solidFill>
                  <a:srgbClr val="2C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errores comparten la misma causa raiz: se usa un valor con el tipo equivocado donde el analizador esperaba otro.</a:t>
            </a:r>
            <a:endParaRPr lang="es-MX" sz="1100" dirty="0"/>
          </a:p>
        </p:txBody>
      </p:sp>
      <p:sp>
        <p:nvSpPr>
          <p:cNvPr id="18" name="Text 1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MX" sz="900" spc="1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Error (nuestro proyecto)</a:t>
            </a:r>
            <a:endParaRPr lang="es-MX" sz="900" dirty="0"/>
          </a:p>
        </p:txBody>
      </p:sp>
      <p:sp>
        <p:nvSpPr>
          <p:cNvPr id="19" name="Text 19"/>
          <p:cNvSpPr txBox="1"/>
          <p:nvPr/>
        </p:nvSpPr>
        <p:spPr>
          <a:xfrm>
            <a:off x="11338560" y="6419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MX" sz="900" kern="0" dirty="0">
                <a:solidFill>
                  <a:srgbClr val="9B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s-MX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2026-09-11T18:09:07Z</dcterms:created>
  <dcterms:modified xsi:type="dcterms:W3CDTF">2026-09-11T18:09:07Z</dcterms:modified>
</cp:coreProperties>
</file>